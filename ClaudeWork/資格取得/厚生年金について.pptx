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  <a:latin typeface="Yu Gothic UI"/>
              </a:rPr>
              <a:t>資格取得・社会保険研究シリーズ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4"/>
                </a:solidFill>
                <a:latin typeface="Yu Gothic UI"/>
              </a:rPr>
              <a:t>制度の基礎知識と2026〜2029年の改正動向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E9EB3"/>
                </a:solidFill>
                <a:latin typeface="Yu Gothic UI"/>
              </a:rPr>
              <a:t>作成：Claude Code リサーチ資料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8E9EB3"/>
                </a:solidFill>
                <a:latin typeface="Yu Gothic U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本日のアジェンダ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厚生年金とは何か（2階建ての年金制度）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036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加入対象者と適用事業所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502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保険料の仕組み（保険料率・標準報酬月額・労使折半）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01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給付の種類（老齢・障害・遺族厚生年金）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470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老齢厚生年金の受給開始年齢と計算方法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8986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8036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2026年10月の適用拡大（106万円の壁の撤廃）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9502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3192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2027〜2029年の標準報酬月額上限引き上げ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98348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001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83480"/>
            <a:ext cx="4754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B36"/>
                </a:solidFill>
                <a:latin typeface="Yu Gothic UI"/>
              </a:rPr>
              <a:t>まとめと今後の留意点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厚生年金とは — 2階建ての年金制度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470"/>
                </a:solidFill>
                <a:latin typeface="Yu Gothic UI"/>
              </a:rPr>
              <a:t>日本の公的年金は「基礎年金（国民年金）」を1階、「厚生年金」を2階とする2階建て構造。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6035040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6035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2階：厚生年金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会社員・公務員などの被用者が加入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83280"/>
            <a:ext cx="6035040" cy="96012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6035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1階：国民年金（基礎年金）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20歳以上60歳未満の全国民が加入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33172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被用者保険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会社員・公務員等、給与を受けて働く人が加入する制度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上乗せ給付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国民年金（基礎年金）に上乗せして給付される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保障の種類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老齢・障害・遺族の3種の年金を保障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運営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実施機関は日本年金機構・各共済組合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ELIGIBILITY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加入対象者と適用事業所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0F2A4A"/>
                </a:solidFill>
                <a:latin typeface="Yu Gothic UI"/>
              </a:rPr>
              <a:t>● 原則　</a:t>
            </a:r>
            <a:r>
              <a:rPr sz="1500" b="0">
                <a:solidFill>
                  <a:srgbClr val="222B36"/>
                </a:solidFill>
                <a:latin typeface="Yu Gothic UI"/>
              </a:rPr>
              <a:t>厚生年金保険の適用事業所に使用される70歳未満の労働者が加入対象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F2A4A"/>
                </a:solidFill>
                <a:latin typeface="Yu Gothic UI"/>
              </a:rPr>
              <a:t>● 正社員　</a:t>
            </a:r>
            <a:r>
              <a:rPr sz="1500" b="0">
                <a:solidFill>
                  <a:srgbClr val="222B36"/>
                </a:solidFill>
                <a:latin typeface="Yu Gothic UI"/>
              </a:rPr>
              <a:t>フルタイムで働く正社員は原則すべて加入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F2A4A"/>
                </a:solidFill>
                <a:latin typeface="Yu Gothic UI"/>
              </a:rPr>
              <a:t>● 短時間労働者（パート・アルバイト等）　</a:t>
            </a:r>
            <a:r>
              <a:rPr sz="1500" b="0">
                <a:solidFill>
                  <a:srgbClr val="222B36"/>
                </a:solidFill>
                <a:latin typeface="Yu Gothic UI"/>
              </a:rPr>
              <a:t>週の所定労働時間・所定内賃金・勤務期間・企業規模などの要件を満たす場合に加入対象（いわゆる「106万円の壁」）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F2A4A"/>
                </a:solidFill>
                <a:latin typeface="Yu Gothic UI"/>
              </a:rPr>
              <a:t>● 2026年10月からの変更　</a:t>
            </a:r>
            <a:r>
              <a:rPr sz="1500" b="0">
                <a:solidFill>
                  <a:srgbClr val="222B36"/>
                </a:solidFill>
                <a:latin typeface="Yu Gothic UI"/>
              </a:rPr>
              <a:t>賃金要件（月額88,000円／年収106万円）が撤廃される見込みで、加入対象がさらに拡大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F2A4A"/>
                </a:solidFill>
                <a:latin typeface="Yu Gothic UI"/>
              </a:rPr>
              <a:t>● 適用事業所　</a:t>
            </a:r>
            <a:r>
              <a:rPr sz="1500" b="0">
                <a:solidFill>
                  <a:srgbClr val="222B36"/>
                </a:solidFill>
                <a:latin typeface="Yu Gothic UI"/>
              </a:rPr>
              <a:t>株式会社等の法人事業所は原則強制適用。個人事業所は業種・従業員数により任意適用の場合あり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保険料の仕組み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保険料率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18.3％（労使合計）で固定・据え置き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労使折半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会社と本人が原則1/2ずつ負担 → 本人負担は9.15％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標準報酬月額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毎月の給与を32等級に区分した金額を基に保険料を算定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賞与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標準賞与額（上限150万円）にも同率の保険料を賦課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737360"/>
          <a:ext cx="4663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区分</a:t>
                      </a:r>
                    </a:p>
                  </a:txBody>
                  <a:tcPr marT="50800" marB="50800" marL="101600" marR="1016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保険料率</a:t>
                      </a:r>
                    </a:p>
                  </a:txBody>
                  <a:tcPr marT="50800" marB="50800" marL="101600" marR="101600" anchor="ctr"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労使合計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18.3％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会社負担分</a:t>
                      </a:r>
                    </a:p>
                  </a:txBody>
                  <a:tcPr marT="50800" marB="50800" marL="101600" marR="1016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9.15％</a:t>
                      </a:r>
                    </a:p>
                  </a:txBody>
                  <a:tcPr marT="50800" marB="50800" marL="101600" marR="101600" anchor="ctr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本人負担分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9.15％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374903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※ 平成29年9月分以降、保険料率18.3％で固定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給付の種類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20440" cy="3566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20440" cy="8229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A4A"/>
                </a:solidFill>
                <a:latin typeface="Yu Gothic UI"/>
              </a:rPr>
              <a:t>老齢厚生年金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B36"/>
                </a:solidFill>
                <a:latin typeface="Yu Gothic UI"/>
              </a:rPr>
              <a:t>65歳から生涯受け取る年金。報酬比例部分＋経過的加算＋加給年金額で構成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3520440" cy="3566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74519"/>
            <a:ext cx="3520440" cy="8229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A4A"/>
                </a:solidFill>
                <a:latin typeface="Yu Gothic UI"/>
              </a:rPr>
              <a:t>障害厚生年金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B36"/>
                </a:solidFill>
                <a:latin typeface="Yu Gothic UI"/>
              </a:rPr>
              <a:t>病気やケガで一定の障害状態になったときに支給される年金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74519"/>
            <a:ext cx="3520440" cy="3566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74519"/>
            <a:ext cx="3520440" cy="8229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A4A"/>
                </a:solidFill>
                <a:latin typeface="Yu Gothic UI"/>
              </a:rPr>
              <a:t>遺族厚生年金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B36"/>
                </a:solidFill>
                <a:latin typeface="Yu Gothic UI"/>
              </a:rPr>
              <a:t>被保険者が死亡したとき、遺族の生活を支えるために支給される年金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老齢厚生年金の計算方法（概要）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Yu Gothic UI"/>
              </a:rPr>
              <a:t>老齢厚生年金額　＝　報酬比例部分　＋　経過的加算額　＋　加給年金額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報酬比例部分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在職中の平均標準報酬額と加入期間に応じて計算される、給付の中心となる部分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経過的加算額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定額部分と国民年金の老齢基礎年金相当額との差を調整する加算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加給年金額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厚生年金の加入期間が20年以上ある人に、生計を維持する配偶者や子がいる場合に加算（家族手当的な位置づけ）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特別支給の老齢厚生年金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生年月日により65歳前から報酬比例部分を受給できる経過措置（支給開始年齢は段階的に65歳へ引き上げ済み）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REFORM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2026年10月〜　適用拡大（106万円の壁の撤廃）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これまでの要件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短時間労働者の加入要件の一つに「月額賃金88,000円（年収106万円）以上」があった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2026年10月からの変更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この賃金要件が撤廃される見込み。所定労働時間など他の要件を満たせば、年収にかかわらず厚生年金の加入対象に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2A4A"/>
                </a:solidFill>
                <a:latin typeface="Yu Gothic UI"/>
              </a:rPr>
              <a:t>● 影響　</a:t>
            </a:r>
            <a:r>
              <a:rPr sz="1400" b="0">
                <a:solidFill>
                  <a:srgbClr val="222B36"/>
                </a:solidFill>
                <a:latin typeface="Yu Gothic UI"/>
              </a:rPr>
              <a:t>パート・アルバイトなど短時間労働者の加入対象がさらに拡大し、将来の年金額の底上げにつながる一方、手取り収入への影響も生じ得る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1088136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B36"/>
                </a:solidFill>
                <a:latin typeface="Yu Gothic UI"/>
              </a:rPr>
              <a:t>ポイント：「年収の壁」を意識した就業調整をしていた層が、新たに厚生年金に加入することで、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B36"/>
                </a:solidFill>
                <a:latin typeface="Yu Gothic UI"/>
              </a:rPr>
              <a:t>将来の年金額が増える一方、保険料負担により当面の手取りが減る可能性がある。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REFORM 2027-2029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標準報酬月額の上限　段階的引き上げ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6470"/>
                </a:solidFill>
                <a:latin typeface="Yu Gothic UI"/>
              </a:rPr>
              <a:t>高所得層の標準報酬月額の上限（現行65万円）を、2027年9月から3段階で75万円まで引き上げ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28600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時期</a:t>
                      </a:r>
                    </a:p>
                  </a:txBody>
                  <a:tcPr marT="50800" marB="50800" marL="101600" marR="1016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標準報酬月額の上限</a:t>
                      </a:r>
                    </a:p>
                  </a:txBody>
                  <a:tcPr marT="50800" marB="50800" marL="101600" marR="101600" anchor="ctr">
                    <a:solidFill>
                      <a:srgbClr val="0F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現行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65万円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2027年9月〜</a:t>
                      </a:r>
                    </a:p>
                  </a:txBody>
                  <a:tcPr marT="50800" marB="50800" marL="101600" marR="1016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68万円</a:t>
                      </a:r>
                    </a:p>
                  </a:txBody>
                  <a:tcPr marT="50800" marB="50800" marL="101600" marR="101600" anchor="ctr"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2028年9月〜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71万円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2029年9月〜</a:t>
                      </a:r>
                    </a:p>
                  </a:txBody>
                  <a:tcPr marT="50800" marB="50800" marL="101600" marR="1016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Yu Gothic UI"/>
                        </a:rPr>
                        <a:t>75万円</a:t>
                      </a:r>
                    </a:p>
                  </a:txBody>
                  <a:tcPr marT="50800" marB="50800" marL="101600" marR="1016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228600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対象者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賞与を除く報酬月額が66.5万円以上となる被保険者（役員を含む）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保険料への影響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月収75万円の場合、本人負担分は月約9,100円増（社会保険料控除考慮後は約6,100円）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将来の年金への影響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10年間その状態が続くと、老齢厚生年金が月約5,100円増額（生涯受給）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F2A4A"/>
                </a:solidFill>
                <a:latin typeface="Yu Gothic UI"/>
              </a:rPr>
              <a:t>● 企業の対応　</a:t>
            </a:r>
            <a:r>
              <a:rPr sz="1200" b="0">
                <a:solidFill>
                  <a:srgbClr val="222B36"/>
                </a:solidFill>
                <a:latin typeface="Yu Gothic UI"/>
              </a:rPr>
              <a:t>給与計算システムの改修や対象者への説明など、2027年9月までの実務対応が必要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152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厚生年金について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Yu Gothic UI"/>
              </a:rPr>
              <a:t>✓  厚生年金は国民年金の上に乗る「2階部分」で、会社員・公務員などの被用者が加入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Yu Gothic UI"/>
              </a:rPr>
              <a:t>✓  保険料率18.3％を労使折半（本人9.15％）、標準報酬月額・標準賞与額を基に算定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Yu Gothic UI"/>
              </a:rPr>
              <a:t>✓  給付は老齢・障害・遺族の3種類。老齢厚生年金は報酬比例部分が中心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Yu Gothic UI"/>
              </a:rPr>
              <a:t>✓  2026年10月に短時間労働者の賃金要件（106万円の壁）が撤廃され加入対象が拡大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Yu Gothic UI"/>
              </a:rPr>
              <a:t>✓  2027〜2029年にかけて高所得層の標準報酬月額上限が65万円→75万円へ段階的に引き上げ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Yu Gothic UI"/>
              </a:rPr>
              <a:t>✓  制度改正の動向を継続的に把握し、資格取得・実務対応に備えることが重要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A6C"/>
                </a:solidFill>
                <a:latin typeface="Yu Gothic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Yu Gothic UI"/>
              </a:rPr>
              <a:t>出典・参考資料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381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日本年金機構「老齢厚生年金の受給要件・支給開始時期・年金額」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日本年金機構「特別支給の老齢厚生年金」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厚生労働省「厚生年金等の標準報酬月額の上限の段階的引上げについて」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全国健康保険協会（協会けんぽ）保険料額表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社労士ナビ「令和8年度（2026年度）厚生年金保険料率」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社労士ナビ「厚生年金の標準報酬月額の上限引き上げ｜企業が今すぐ準備すべきこと」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一般社団法人 公的保険アドバイザー協会「2026年度（令和8年度）の年金額」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B36"/>
                </a:solidFill>
                <a:latin typeface="Yu Gothic UI"/>
              </a:rPr>
              <a:t>・ 東証マネ部！「厚生年金の標準報酬月額上限引き上げとは？」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0"/>
                </a:solidFill>
                <a:latin typeface="Yu Gothic UI"/>
              </a:rPr>
              <a:t>※ 本資料はWeb公開情報をもとに作成した研究資料であり、内容の最終確認は公式発表をご参照ください。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470"/>
                </a:solidFill>
                <a:latin typeface="Yu Gothic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